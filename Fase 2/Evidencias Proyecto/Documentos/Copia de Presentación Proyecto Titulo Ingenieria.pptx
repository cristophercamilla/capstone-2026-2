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21" roundtripDataSignature="AMtx7mjnw8eVgANPnb/XJXd9rkeMl3/kZ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6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21" Type="http://customschemas.google.com/relationships/presentationmetadata" Target="metadata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5" Type="http://schemas.openxmlformats.org/officeDocument/2006/relationships/slide" Target="slides/slide1.xml"/><Relationship Id="rId19" Type="http://schemas.openxmlformats.org/officeDocument/2006/relationships/slide" Target="slides/slide15.xml"/><Relationship Id="rId6" Type="http://schemas.openxmlformats.org/officeDocument/2006/relationships/slide" Target="slides/slide2.xml"/><Relationship Id="rId18" Type="http://schemas.openxmlformats.org/officeDocument/2006/relationships/slide" Target="slides/slide14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8" name="Google Shape;88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09" name="Google Shape;109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38bbfaba18c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19" name="Google Shape;119;g38bbfaba18c_0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29" name="Google Shape;129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g2eb42e7ba96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41" name="Google Shape;141;g2eb42e7ba96_0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MX" sz="1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Limitaciones: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MX" sz="1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Restricciones</a:t>
            </a:r>
            <a:r>
              <a:rPr b="1" lang="es-MX" sz="1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financieras</a:t>
            </a:r>
            <a:r>
              <a:rPr lang="es-MX" sz="1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pueden </a:t>
            </a:r>
            <a:r>
              <a:rPr b="1" lang="es-MX" sz="15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limitar la implementación </a:t>
            </a:r>
            <a:r>
              <a:rPr lang="es-MX" sz="1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completa de todas las funcionalidades deseadas con cortes de presupuesto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s-MX" sz="1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Plazos de entrega </a:t>
            </a:r>
            <a:r>
              <a:rPr lang="es-MX" sz="1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ajustados pueden afectar la exhaustividad de la </a:t>
            </a:r>
            <a:r>
              <a:rPr b="1" lang="es-MX" sz="15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implementación y pruebas del sistema.</a:t>
            </a:r>
            <a:endParaRPr b="1" sz="15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s-MX" sz="1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Desafíos técnicos</a:t>
            </a:r>
            <a:r>
              <a:rPr lang="es-MX" sz="1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en la integración con </a:t>
            </a:r>
            <a:r>
              <a:rPr b="1" lang="es-MX" sz="15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sistemas actuales y migración de datos.</a:t>
            </a:r>
            <a:endParaRPr b="1" sz="15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MX" sz="1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Posible </a:t>
            </a:r>
            <a:r>
              <a:rPr b="1" lang="es-MX" sz="1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resistencia de los usuarios</a:t>
            </a:r>
            <a:r>
              <a:rPr lang="es-MX" sz="1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a </a:t>
            </a:r>
            <a:r>
              <a:rPr b="1" lang="es-MX" sz="15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adoptar la nueva plataforma,</a:t>
            </a:r>
            <a:r>
              <a:rPr lang="es-MX" sz="1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afectando la efectividad de la implementación.</a:t>
            </a:r>
            <a:endParaRPr/>
          </a:p>
        </p:txBody>
      </p:sp>
      <p:sp>
        <p:nvSpPr>
          <p:cNvPr id="150" name="Google Shape;150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61" name="Google Shape;161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75" name="Google Shape;175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g37d4c9ad68e_1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85" name="Google Shape;185;g37d4c9ad68e_1_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98" name="Google Shape;198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g27356b57bef_0_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08" name="Google Shape;208;g27356b57bef_0_4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18" name="Google Shape;218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37" name="Google Shape;237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45" name="Google Shape;245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54" name="Google Shape;254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apositiva de título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5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15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4" name="Google Shape;14;p1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1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1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  <p:transition spd="slow">
    <p:wipe dir="l"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objetos" type="obj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1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6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0" name="Google Shape;20;p1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1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1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  <p:transition spd="slow">
    <p:wipe dir="l"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cabezado de sección" type="secHead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17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7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Google Shape;26;p1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1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1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  <p:transition spd="slow">
    <p:wipe dir="l"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os objetos" type="twoObj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18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8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2" name="Google Shape;32;p18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3" name="Google Shape;33;p1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1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  <p:transition spd="slow">
    <p:wipe dir="l"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ación" type="twoTxTwoObj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19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9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39" name="Google Shape;39;p19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0" name="Google Shape;40;p19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1" name="Google Shape;41;p19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2" name="Google Shape;42;p1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1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1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  <p:transition spd="slow">
    <p:wipe dir="l"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olo el título" type="titleOnly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20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2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2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2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  <p:transition spd="slow">
    <p:wipe dir="l"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 blanco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2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2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2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  <p:transition spd="slow">
    <p:wipe dir="l"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ido con título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2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22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22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58" name="Google Shape;58;p2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2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2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  <p:transition spd="slow">
    <p:wipe dir="l"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n con título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3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23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23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5" name="Google Shape;65;p2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2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2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  <p:transition spd="slow">
    <p:wipe dir="l"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texto vertical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24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2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2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2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  <p:transition spd="slow">
    <p:wipe dir="l"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vertical y texto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5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5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2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2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2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  <p:transition spd="slow">
    <p:wipe dir="l"/>
  </p:transition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4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 spd="slow">
    <p:wipe dir="l"/>
  </p:transition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9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9.jpg"/><Relationship Id="rId4" Type="http://schemas.openxmlformats.org/officeDocument/2006/relationships/image" Target="../media/image17.jpg"/><Relationship Id="rId5" Type="http://schemas.openxmlformats.org/officeDocument/2006/relationships/image" Target="../media/image8.png"/><Relationship Id="rId6" Type="http://schemas.openxmlformats.org/officeDocument/2006/relationships/image" Target="../media/image5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9.jpg"/><Relationship Id="rId4" Type="http://schemas.openxmlformats.org/officeDocument/2006/relationships/hyperlink" Target="http://komodo.cl" TargetMode="Externa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9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9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9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9.jp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9.jpg"/><Relationship Id="rId4" Type="http://schemas.openxmlformats.org/officeDocument/2006/relationships/image" Target="../media/image1.png"/><Relationship Id="rId5" Type="http://schemas.openxmlformats.org/officeDocument/2006/relationships/image" Target="../media/image6.png"/><Relationship Id="rId6" Type="http://schemas.openxmlformats.org/officeDocument/2006/relationships/image" Target="../media/image22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9.jpg"/><Relationship Id="rId4" Type="http://schemas.openxmlformats.org/officeDocument/2006/relationships/image" Target="../media/image4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9.jpg"/><Relationship Id="rId4" Type="http://schemas.openxmlformats.org/officeDocument/2006/relationships/image" Target="../media/image2.png"/><Relationship Id="rId5" Type="http://schemas.openxmlformats.org/officeDocument/2006/relationships/hyperlink" Target="https://drive.google.com/file/d/1KsIXFlwP9dCYcAtECYcLtrWA3fDYZutI/view?usp=sharing" TargetMode="Externa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9.jpg"/><Relationship Id="rId4" Type="http://schemas.openxmlformats.org/officeDocument/2006/relationships/image" Target="../media/image19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9.jpg"/><Relationship Id="rId4" Type="http://schemas.openxmlformats.org/officeDocument/2006/relationships/image" Target="../media/image3.png"/></Relationships>
</file>

<file path=ppt/slides/_rels/slide13.xml.rels><?xml version="1.0" encoding="UTF-8" standalone="yes"?><Relationships xmlns="http://schemas.openxmlformats.org/package/2006/relationships"><Relationship Id="rId11" Type="http://schemas.openxmlformats.org/officeDocument/2006/relationships/image" Target="../media/image21.jpg"/><Relationship Id="rId10" Type="http://schemas.openxmlformats.org/officeDocument/2006/relationships/image" Target="../media/image16.png"/><Relationship Id="rId13" Type="http://schemas.openxmlformats.org/officeDocument/2006/relationships/image" Target="../media/image18.png"/><Relationship Id="rId12" Type="http://schemas.openxmlformats.org/officeDocument/2006/relationships/image" Target="../media/image14.jp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9.jpg"/><Relationship Id="rId4" Type="http://schemas.openxmlformats.org/officeDocument/2006/relationships/image" Target="../media/image11.png"/><Relationship Id="rId9" Type="http://schemas.openxmlformats.org/officeDocument/2006/relationships/image" Target="../media/image15.png"/><Relationship Id="rId5" Type="http://schemas.openxmlformats.org/officeDocument/2006/relationships/image" Target="../media/image7.png"/><Relationship Id="rId6" Type="http://schemas.openxmlformats.org/officeDocument/2006/relationships/image" Target="../media/image12.png"/><Relationship Id="rId7" Type="http://schemas.openxmlformats.org/officeDocument/2006/relationships/image" Target="../media/image13.jpg"/><Relationship Id="rId8" Type="http://schemas.openxmlformats.org/officeDocument/2006/relationships/image" Target="../media/image20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9.jp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9.jp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9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scuelaIT Duoc UC - Escuela de Informática y Telecomunicaciones Duoc UC - Duoc  UC | LinkedIn" id="84" name="Google Shape;84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"/>
          <p:cNvSpPr txBox="1"/>
          <p:nvPr/>
        </p:nvSpPr>
        <p:spPr>
          <a:xfrm>
            <a:off x="1" y="2410742"/>
            <a:ext cx="12192000" cy="3170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b="0" i="0" lang="es-MX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PROYECTO</a:t>
            </a:r>
            <a:endParaRPr b="0" i="0" sz="4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b="0" i="0" lang="es-MX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“Sistema de apoyo de compras con ML”</a:t>
            </a:r>
            <a:endParaRPr b="0" i="0" sz="4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t/>
            </a:r>
            <a:endParaRPr b="0" i="0" sz="4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t/>
            </a:r>
            <a:endParaRPr b="0" i="0" sz="4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s-MX" sz="2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PRESENTACIÓN FINAL CAPSTONE</a:t>
            </a:r>
            <a:endParaRPr b="0" i="0" sz="2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ransition spd="slow">
    <p:wipe dir="l"/>
  </p:transition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scuelaIT Duoc UC - Escuela de Informática y Telecomunicaciones Duoc UC - Duoc  UC | LinkedIn" id="90" name="Google Shape;90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91" name="Google Shape;91;p2"/>
          <p:cNvGrpSpPr/>
          <p:nvPr/>
        </p:nvGrpSpPr>
        <p:grpSpPr>
          <a:xfrm>
            <a:off x="4145451" y="1936694"/>
            <a:ext cx="7633500" cy="4350553"/>
            <a:chOff x="0" y="0"/>
            <a:chExt cx="7633500" cy="4350553"/>
          </a:xfrm>
        </p:grpSpPr>
        <p:sp>
          <p:nvSpPr>
            <p:cNvPr id="92" name="Google Shape;92;p2"/>
            <p:cNvSpPr/>
            <p:nvPr/>
          </p:nvSpPr>
          <p:spPr>
            <a:xfrm>
              <a:off x="0" y="0"/>
              <a:ext cx="7633500" cy="1359600"/>
            </a:xfrm>
            <a:prstGeom prst="roundRect">
              <a:avLst>
                <a:gd fmla="val 10000" name="adj"/>
              </a:avLst>
            </a:prstGeom>
            <a:gradFill>
              <a:gsLst>
                <a:gs pos="0">
                  <a:srgbClr val="6EA5DA"/>
                </a:gs>
                <a:gs pos="50000">
                  <a:srgbClr val="529BDA"/>
                </a:gs>
                <a:gs pos="100000">
                  <a:srgbClr val="4188C8"/>
                </a:gs>
              </a:gsLst>
              <a:lin ang="5400000" scaled="0"/>
            </a:gradFill>
            <a:ln>
              <a:noFill/>
            </a:ln>
            <a:effectLst>
              <a:outerShdw blurRad="57150" rotWithShape="0" algn="ctr" dir="5400000" dist="19050">
                <a:srgbClr val="000000">
                  <a:alpha val="61960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3" name="Google Shape;93;p2"/>
            <p:cNvSpPr txBox="1"/>
            <p:nvPr/>
          </p:nvSpPr>
          <p:spPr>
            <a:xfrm>
              <a:off x="1662653" y="0"/>
              <a:ext cx="5970840" cy="135954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9050" lIns="99050" spcFirstLastPara="1" rIns="99050" wrap="square" tIns="9905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600"/>
                <a:buFont typeface="Arial"/>
                <a:buNone/>
              </a:pPr>
              <a:r>
                <a:rPr b="0" i="0" lang="es-MX" sz="26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Daniel Frias</a:t>
              </a:r>
              <a:endParaRPr b="0" i="0" sz="2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-228600" lvl="1" marL="228600" marR="0" rtl="0" algn="l">
                <a:lnSpc>
                  <a:spcPct val="90000"/>
                </a:lnSpc>
                <a:spcBef>
                  <a:spcPts val="910"/>
                </a:spcBef>
                <a:spcAft>
                  <a:spcPts val="0"/>
                </a:spcAft>
                <a:buClr>
                  <a:schemeClr val="lt1"/>
                </a:buClr>
                <a:buSzPts val="2000"/>
                <a:buFont typeface="Calibri"/>
                <a:buChar char="•"/>
              </a:pPr>
              <a:r>
                <a:t/>
              </a:r>
              <a:endPara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-228600" lvl="1" marL="228600" marR="0" rtl="0" algn="l">
                <a:lnSpc>
                  <a:spcPct val="90000"/>
                </a:lnSpc>
                <a:spcBef>
                  <a:spcPts val="300"/>
                </a:spcBef>
                <a:spcAft>
                  <a:spcPts val="0"/>
                </a:spcAft>
                <a:buClr>
                  <a:schemeClr val="lt1"/>
                </a:buClr>
                <a:buSzPts val="2000"/>
                <a:buFont typeface="Calibri"/>
                <a:buChar char="•"/>
              </a:pPr>
              <a:r>
                <a:t/>
              </a:r>
              <a:endPara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4" name="Google Shape;94;p2"/>
            <p:cNvSpPr/>
            <p:nvPr/>
          </p:nvSpPr>
          <p:spPr>
            <a:xfrm>
              <a:off x="135954" y="135954"/>
              <a:ext cx="1526698" cy="1087638"/>
            </a:xfrm>
            <a:prstGeom prst="roundRect">
              <a:avLst>
                <a:gd fmla="val 10000" name="adj"/>
              </a:avLst>
            </a:prstGeom>
            <a:solidFill>
              <a:srgbClr val="C3D4EB"/>
            </a:solidFill>
            <a:ln>
              <a:noFill/>
            </a:ln>
            <a:effectLst>
              <a:outerShdw blurRad="57150" rotWithShape="0" algn="ctr" dir="5400000" dist="19050">
                <a:srgbClr val="000000">
                  <a:alpha val="61960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5" name="Google Shape;95;p2"/>
            <p:cNvSpPr/>
            <p:nvPr/>
          </p:nvSpPr>
          <p:spPr>
            <a:xfrm>
              <a:off x="0" y="1495502"/>
              <a:ext cx="7633494" cy="1359548"/>
            </a:xfrm>
            <a:prstGeom prst="roundRect">
              <a:avLst>
                <a:gd fmla="val 10000" name="adj"/>
              </a:avLst>
            </a:prstGeom>
            <a:gradFill>
              <a:gsLst>
                <a:gs pos="0">
                  <a:srgbClr val="6EA5DA"/>
                </a:gs>
                <a:gs pos="50000">
                  <a:srgbClr val="529BDA"/>
                </a:gs>
                <a:gs pos="100000">
                  <a:srgbClr val="4188C8"/>
                </a:gs>
              </a:gsLst>
              <a:lin ang="5400000" scaled="0"/>
            </a:gradFill>
            <a:ln>
              <a:noFill/>
            </a:ln>
            <a:effectLst>
              <a:outerShdw blurRad="57150" rotWithShape="0" algn="ctr" dir="5400000" dist="19050">
                <a:srgbClr val="000000">
                  <a:alpha val="61960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6" name="Google Shape;96;p2"/>
            <p:cNvSpPr txBox="1"/>
            <p:nvPr/>
          </p:nvSpPr>
          <p:spPr>
            <a:xfrm>
              <a:off x="1662653" y="1495502"/>
              <a:ext cx="5970840" cy="135954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9050" lIns="99050" spcFirstLastPara="1" rIns="99050" wrap="square" tIns="9905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600"/>
                <a:buFont typeface="Arial"/>
                <a:buNone/>
              </a:pPr>
              <a:r>
                <a:rPr b="0" i="0" lang="es-MX" sz="26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Cristobal Guzman</a:t>
              </a:r>
              <a:endParaRPr b="0" i="0" sz="2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-228600" lvl="1" marL="228600" marR="0" rtl="0" algn="l">
                <a:lnSpc>
                  <a:spcPct val="90000"/>
                </a:lnSpc>
                <a:spcBef>
                  <a:spcPts val="910"/>
                </a:spcBef>
                <a:spcAft>
                  <a:spcPts val="0"/>
                </a:spcAft>
                <a:buClr>
                  <a:schemeClr val="lt1"/>
                </a:buClr>
                <a:buSzPts val="2000"/>
                <a:buFont typeface="Calibri"/>
                <a:buChar char="•"/>
              </a:pPr>
              <a:r>
                <a:t/>
              </a:r>
              <a:endPara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-228600" lvl="1" marL="228600" marR="0" rtl="0" algn="l">
                <a:lnSpc>
                  <a:spcPct val="90000"/>
                </a:lnSpc>
                <a:spcBef>
                  <a:spcPts val="300"/>
                </a:spcBef>
                <a:spcAft>
                  <a:spcPts val="0"/>
                </a:spcAft>
                <a:buClr>
                  <a:schemeClr val="lt1"/>
                </a:buClr>
                <a:buSzPts val="2000"/>
                <a:buFont typeface="Calibri"/>
                <a:buChar char="•"/>
              </a:pPr>
              <a:r>
                <a:t/>
              </a:r>
              <a:endPara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7" name="Google Shape;97;p2"/>
            <p:cNvSpPr/>
            <p:nvPr/>
          </p:nvSpPr>
          <p:spPr>
            <a:xfrm>
              <a:off x="135954" y="1631457"/>
              <a:ext cx="1526698" cy="1087638"/>
            </a:xfrm>
            <a:prstGeom prst="roundRect">
              <a:avLst>
                <a:gd fmla="val 10000" name="adj"/>
              </a:avLst>
            </a:prstGeom>
            <a:solidFill>
              <a:srgbClr val="C3D4EB"/>
            </a:solidFill>
            <a:ln>
              <a:noFill/>
            </a:ln>
            <a:effectLst>
              <a:outerShdw blurRad="57150" rotWithShape="0" algn="ctr" dir="5400000" dist="19050">
                <a:srgbClr val="000000">
                  <a:alpha val="61960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8" name="Google Shape;98;p2"/>
            <p:cNvSpPr/>
            <p:nvPr/>
          </p:nvSpPr>
          <p:spPr>
            <a:xfrm>
              <a:off x="0" y="2991005"/>
              <a:ext cx="7633494" cy="1359548"/>
            </a:xfrm>
            <a:prstGeom prst="roundRect">
              <a:avLst>
                <a:gd fmla="val 10000" name="adj"/>
              </a:avLst>
            </a:prstGeom>
            <a:gradFill>
              <a:gsLst>
                <a:gs pos="0">
                  <a:srgbClr val="6EA5DA"/>
                </a:gs>
                <a:gs pos="50000">
                  <a:srgbClr val="529BDA"/>
                </a:gs>
                <a:gs pos="100000">
                  <a:srgbClr val="4188C8"/>
                </a:gs>
              </a:gsLst>
              <a:lin ang="5400000" scaled="0"/>
            </a:gradFill>
            <a:ln>
              <a:noFill/>
            </a:ln>
            <a:effectLst>
              <a:outerShdw blurRad="57150" rotWithShape="0" algn="ctr" dir="5400000" dist="19050">
                <a:srgbClr val="000000">
                  <a:alpha val="61960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9" name="Google Shape;99;p2"/>
            <p:cNvSpPr txBox="1"/>
            <p:nvPr/>
          </p:nvSpPr>
          <p:spPr>
            <a:xfrm>
              <a:off x="1662653" y="2991005"/>
              <a:ext cx="5970840" cy="135954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9050" lIns="99050" spcFirstLastPara="1" rIns="99050" wrap="square" tIns="9905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600"/>
                <a:buFont typeface="Arial"/>
                <a:buNone/>
              </a:pPr>
              <a:r>
                <a:rPr b="0" i="0" lang="es-MX" sz="26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Cristopher Camilla</a:t>
              </a:r>
              <a:endParaRPr b="0" i="0" sz="2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-228600" lvl="1" marL="228600" marR="0" rtl="0" algn="l">
                <a:lnSpc>
                  <a:spcPct val="90000"/>
                </a:lnSpc>
                <a:spcBef>
                  <a:spcPts val="910"/>
                </a:spcBef>
                <a:spcAft>
                  <a:spcPts val="0"/>
                </a:spcAft>
                <a:buClr>
                  <a:schemeClr val="lt1"/>
                </a:buClr>
                <a:buSzPts val="2000"/>
                <a:buFont typeface="Calibri"/>
                <a:buChar char="•"/>
              </a:pPr>
              <a:r>
                <a:t/>
              </a:r>
              <a:endPara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-228600" lvl="1" marL="228600" marR="0" rtl="0" algn="l">
                <a:lnSpc>
                  <a:spcPct val="90000"/>
                </a:lnSpc>
                <a:spcBef>
                  <a:spcPts val="300"/>
                </a:spcBef>
                <a:spcAft>
                  <a:spcPts val="0"/>
                </a:spcAft>
                <a:buClr>
                  <a:schemeClr val="lt1"/>
                </a:buClr>
                <a:buSzPts val="2000"/>
                <a:buFont typeface="Calibri"/>
                <a:buChar char="•"/>
              </a:pPr>
              <a:r>
                <a:t/>
              </a:r>
              <a:endPara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0" name="Google Shape;100;p2"/>
            <p:cNvSpPr/>
            <p:nvPr/>
          </p:nvSpPr>
          <p:spPr>
            <a:xfrm>
              <a:off x="135954" y="3126960"/>
              <a:ext cx="1526698" cy="1087638"/>
            </a:xfrm>
            <a:prstGeom prst="roundRect">
              <a:avLst>
                <a:gd fmla="val 10000" name="adj"/>
              </a:avLst>
            </a:prstGeom>
            <a:solidFill>
              <a:srgbClr val="C3D4EB"/>
            </a:solidFill>
            <a:ln>
              <a:noFill/>
            </a:ln>
            <a:effectLst>
              <a:outerShdw blurRad="57150" rotWithShape="0" algn="ctr" dir="5400000" dist="19050">
                <a:srgbClr val="000000">
                  <a:alpha val="61960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01" name="Google Shape;101;p2"/>
          <p:cNvSpPr txBox="1"/>
          <p:nvPr/>
        </p:nvSpPr>
        <p:spPr>
          <a:xfrm>
            <a:off x="136188" y="368928"/>
            <a:ext cx="12192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s-MX" sz="1800" u="none" cap="none" strike="noStrike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PROYECTO “Sistema de apoyo de compras con ML”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" name="Google Shape;102;p2"/>
          <p:cNvSpPr txBox="1"/>
          <p:nvPr/>
        </p:nvSpPr>
        <p:spPr>
          <a:xfrm>
            <a:off x="238327" y="3058616"/>
            <a:ext cx="3608961" cy="120032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0" i="0" lang="es-MX" sz="3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INTEGRANTES DEL PROYECTO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03" name="Google Shape;103;p2"/>
          <p:cNvCxnSpPr/>
          <p:nvPr/>
        </p:nvCxnSpPr>
        <p:spPr>
          <a:xfrm>
            <a:off x="381000" y="758027"/>
            <a:ext cx="4085700" cy="0"/>
          </a:xfrm>
          <a:prstGeom prst="straightConnector1">
            <a:avLst/>
          </a:prstGeom>
          <a:noFill/>
          <a:ln cap="flat" cmpd="sng" w="15875">
            <a:solidFill>
              <a:srgbClr val="F5F7FC"/>
            </a:solidFill>
            <a:prstDash val="solid"/>
            <a:miter lim="800000"/>
            <a:headEnd len="sm" w="sm" type="none"/>
            <a:tailEnd len="sm" w="sm" type="none"/>
          </a:ln>
        </p:spPr>
      </p:cxnSp>
      <p:pic>
        <p:nvPicPr>
          <p:cNvPr id="104" name="Google Shape;104;p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363647" y="2102525"/>
            <a:ext cx="1422826" cy="1001243"/>
          </a:xfrm>
          <a:prstGeom prst="rect">
            <a:avLst/>
          </a:prstGeom>
          <a:noFill/>
          <a:ln>
            <a:noFill/>
          </a:ln>
        </p:spPr>
      </p:pic>
      <p:pic>
        <p:nvPicPr>
          <p:cNvPr id="105" name="Google Shape;105;p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49217" y="5120149"/>
            <a:ext cx="1422825" cy="979986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" name="Google Shape;106;p2" title="IMG_3584.jpeg"/>
          <p:cNvPicPr preferRelativeResize="0"/>
          <p:nvPr/>
        </p:nvPicPr>
        <p:blipFill rotWithShape="1">
          <a:blip r:embed="rId6">
            <a:alphaModFix/>
          </a:blip>
          <a:srcRect b="22833" l="-3377" r="1946" t="22827"/>
          <a:stretch/>
        </p:blipFill>
        <p:spPr>
          <a:xfrm>
            <a:off x="4314675" y="3592400"/>
            <a:ext cx="1439424" cy="102819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wipe dir="l"/>
  </p:transition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scuelaIT Duoc UC - Escuela de Informática y Telecomunicaciones Duoc UC - Duoc  UC | LinkedIn" id="111" name="Google Shape;111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sp>
        <p:nvSpPr>
          <p:cNvPr id="112" name="Google Shape;112;p3"/>
          <p:cNvSpPr txBox="1"/>
          <p:nvPr/>
        </p:nvSpPr>
        <p:spPr>
          <a:xfrm>
            <a:off x="136188" y="368928"/>
            <a:ext cx="12192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s-MX" sz="1800" u="none" cap="none" strike="noStrike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PROYECTO “Sistema de apoyo de compras con ML”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" name="Google Shape;113;p3"/>
          <p:cNvSpPr txBox="1"/>
          <p:nvPr/>
        </p:nvSpPr>
        <p:spPr>
          <a:xfrm>
            <a:off x="0" y="1130849"/>
            <a:ext cx="121920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0" i="0" lang="es-MX" sz="3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CONTEXTO DE LA PROBLEMATICA y EMPRESA IMPORTADORA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14" name="Google Shape;114;p3"/>
          <p:cNvCxnSpPr/>
          <p:nvPr/>
        </p:nvCxnSpPr>
        <p:spPr>
          <a:xfrm>
            <a:off x="381000" y="758027"/>
            <a:ext cx="4085700" cy="0"/>
          </a:xfrm>
          <a:prstGeom prst="straightConnector1">
            <a:avLst/>
          </a:prstGeom>
          <a:noFill/>
          <a:ln cap="flat" cmpd="sng" w="15875">
            <a:solidFill>
              <a:srgbClr val="F5F7FC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15" name="Google Shape;115;p3"/>
          <p:cNvSpPr/>
          <p:nvPr/>
        </p:nvSpPr>
        <p:spPr>
          <a:xfrm>
            <a:off x="714887" y="2169775"/>
            <a:ext cx="10554600" cy="4092600"/>
          </a:xfrm>
          <a:prstGeom prst="roundRect">
            <a:avLst>
              <a:gd fmla="val 10901" name="adj"/>
            </a:avLst>
          </a:prstGeom>
          <a:solidFill>
            <a:schemeClr val="lt1"/>
          </a:solidFill>
          <a:ln cap="flat" cmpd="sng" w="127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b="0" i="0" lang="es-MX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ARISTO: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b="0" i="0" lang="es-MX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X años en el mercado,holding de 3 empresas,  negocio de importadora de zapatos, distribuidora y …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b="0" i="0" lang="es-MX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Presentacion de cargos y gerentes, organigrama, cantidad de trabajadoes y areas aprox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b="0" i="0" lang="es-MX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Modelo del negocio: Como son importadoras se encargan zapatos de la proxima temporada, por ejemplo, en este periodo se esta planificando las compras para la temporada verano 2026. 12 meses de anticipacion.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b="0" i="0" lang="es-MX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Los clientes ya realizaron sus pedidos para la siguiente temporada por tanto hay un % de venta “asegurado”, aunque estos clientes pueden bajar sus pedidos.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b="0" i="0" lang="es-MX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Fuera de esos modelos, se compra a publico en general y es vendido por canales de pagos presencial y online, venta directa a publico. </a:t>
            </a:r>
            <a:r>
              <a:rPr b="0" i="0" lang="es-MX" sz="1500" u="sng" cap="none" strike="noStrike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4"/>
              </a:rPr>
              <a:t>komodo.cl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b="0" i="0" lang="es-MX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La gerencia realiza el pedido de calzado basado en el “juicio de expertos”, del entendimiento y conocimiento que ellos tienen.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b="0" i="0" lang="es-MX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Modelo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b="0" i="0" lang="es-MX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Regla de multiplicar por un factor X el stcok comprado la vez anterior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b="0" i="0" lang="es-MX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Analisis de tendencias basados en experiencia de lideres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b="0" i="0" lang="es-MX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Causa: Zapatos que no venden la cantidad esperada y genera sobre stock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b="0" i="0" lang="es-MX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Calzado que es tendencia y muy solicitado no se logra cubrir la cuota de stock y se pierden ventas por no tenerlos, se puede preveer la cantidad esperada de ventas.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b="0" i="0" lang="es-MX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Optimizacion de recursos y fondos de compra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b="0" i="0" lang="es-MX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t/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b="0" i="0" lang="es-MX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una empresa dedicada a la importación y comercialización de calzado en el mercado nacional realiza la planificación de compras basada en la experiencia y el juicio de sus gerentes.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b="0" i="0" lang="es-MX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La selección de pares a importar depende de estimaciones empíricas, se decide comprar mayor cantidad de los modelos más vendidos en el invierno anterior, asumiendo que se repetirán en la siguiente temporada.</a:t>
            </a:r>
            <a:br>
              <a:rPr b="0" i="0" lang="es-MX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s-MX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Esta estrategia responde más bien a la intuición de la gerencia que a un proceso analítico formal.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3"/>
          <p:cNvSpPr/>
          <p:nvPr/>
        </p:nvSpPr>
        <p:spPr>
          <a:xfrm>
            <a:off x="11709450" y="6376975"/>
            <a:ext cx="261000" cy="219900"/>
          </a:xfrm>
          <a:prstGeom prst="flowChartConnector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ransition spd="slow">
    <p:wipe dir="l"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scuelaIT Duoc UC - Escuela de Informática y Telecomunicaciones Duoc UC - Duoc  UC | LinkedIn" id="121" name="Google Shape;121;g38bbfaba18c_0_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sp>
        <p:nvSpPr>
          <p:cNvPr id="122" name="Google Shape;122;g38bbfaba18c_0_0"/>
          <p:cNvSpPr txBox="1"/>
          <p:nvPr/>
        </p:nvSpPr>
        <p:spPr>
          <a:xfrm>
            <a:off x="136188" y="368928"/>
            <a:ext cx="12192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s-MX" sz="1800" u="none" cap="none" strike="noStrike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PROYECTO “Sistema de apoyo de compras con ML”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3" name="Google Shape;123;g38bbfaba18c_0_0"/>
          <p:cNvSpPr txBox="1"/>
          <p:nvPr/>
        </p:nvSpPr>
        <p:spPr>
          <a:xfrm>
            <a:off x="0" y="1130849"/>
            <a:ext cx="121920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0" i="0" lang="es-MX" sz="3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DESCRIPCIÓN DEL PROYECTO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24" name="Google Shape;124;g38bbfaba18c_0_0"/>
          <p:cNvCxnSpPr/>
          <p:nvPr/>
        </p:nvCxnSpPr>
        <p:spPr>
          <a:xfrm>
            <a:off x="381000" y="758027"/>
            <a:ext cx="4085700" cy="0"/>
          </a:xfrm>
          <a:prstGeom prst="straightConnector1">
            <a:avLst/>
          </a:prstGeom>
          <a:noFill/>
          <a:ln cap="flat" cmpd="sng" w="15875">
            <a:solidFill>
              <a:srgbClr val="F5F7FC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25" name="Google Shape;125;g38bbfaba18c_0_0"/>
          <p:cNvSpPr/>
          <p:nvPr/>
        </p:nvSpPr>
        <p:spPr>
          <a:xfrm>
            <a:off x="753744" y="2177325"/>
            <a:ext cx="10507200" cy="4092600"/>
          </a:xfrm>
          <a:prstGeom prst="roundRect">
            <a:avLst>
              <a:gd fmla="val 10901" name="adj"/>
            </a:avLst>
          </a:prstGeom>
          <a:solidFill>
            <a:schemeClr val="lt1"/>
          </a:solidFill>
          <a:ln cap="flat" cmpd="sng" w="127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s-MX" sz="2500" u="sng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Propuesta de solución</a:t>
            </a:r>
            <a:endParaRPr b="0" i="0" sz="2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s-MX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La solución consiste en un sistema predictivo que estime el comportamiento de las ventas de calzado con un horizonte de 12 meses. Para ello, integra registros históricos de ventas y datos actuales del negocio de ARISTO, complementados con el monitoreo de tendencias en internet y del mercado. 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s-MX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 esta información el sistema genera proyecciones automáticas que estarán disponibles en una interfaz de consulta, permitiendo obtener informes de demanda 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2800" u="sng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1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g38bbfaba18c_0_0"/>
          <p:cNvSpPr/>
          <p:nvPr/>
        </p:nvSpPr>
        <p:spPr>
          <a:xfrm>
            <a:off x="11709450" y="6376975"/>
            <a:ext cx="261000" cy="219900"/>
          </a:xfrm>
          <a:prstGeom prst="flowChartConnector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scuelaIT Duoc UC - Escuela de Informática y Telecomunicaciones Duoc UC - Duoc  UC | LinkedIn" id="131" name="Google Shape;131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4"/>
          <p:cNvSpPr txBox="1"/>
          <p:nvPr/>
        </p:nvSpPr>
        <p:spPr>
          <a:xfrm>
            <a:off x="136188" y="368928"/>
            <a:ext cx="1219199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s-MX" sz="1800" u="none" cap="none" strike="noStrike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PROYECTO “Sistema de apoyo de compras con ML”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3" name="Google Shape;133;p4"/>
          <p:cNvSpPr txBox="1"/>
          <p:nvPr/>
        </p:nvSpPr>
        <p:spPr>
          <a:xfrm>
            <a:off x="0" y="927104"/>
            <a:ext cx="121920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0" i="0" lang="es-MX" sz="3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Objetivo General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34" name="Google Shape;134;p4"/>
          <p:cNvCxnSpPr/>
          <p:nvPr/>
        </p:nvCxnSpPr>
        <p:spPr>
          <a:xfrm>
            <a:off x="330375" y="758027"/>
            <a:ext cx="4085700" cy="0"/>
          </a:xfrm>
          <a:prstGeom prst="straightConnector1">
            <a:avLst/>
          </a:prstGeom>
          <a:noFill/>
          <a:ln cap="flat" cmpd="sng" w="15875">
            <a:solidFill>
              <a:srgbClr val="F5F7FC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35" name="Google Shape;135;p4"/>
          <p:cNvSpPr txBox="1"/>
          <p:nvPr/>
        </p:nvSpPr>
        <p:spPr>
          <a:xfrm>
            <a:off x="1" y="3168046"/>
            <a:ext cx="121920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0" i="0" lang="es-MX" sz="3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Objetivos Específicos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4"/>
          <p:cNvSpPr/>
          <p:nvPr/>
        </p:nvSpPr>
        <p:spPr>
          <a:xfrm>
            <a:off x="614515" y="1583371"/>
            <a:ext cx="10962900" cy="15753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127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s-MX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Diseñar y construir un sistema de apoyo a la decisión de compras que, mediante modelos de ML entregue una propuesta de compra ajustada.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4"/>
          <p:cNvSpPr/>
          <p:nvPr/>
        </p:nvSpPr>
        <p:spPr>
          <a:xfrm>
            <a:off x="614525" y="3984024"/>
            <a:ext cx="10962900" cy="23235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127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s-MX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-Depurar y consolidar datos históricos de ventas, preventas, anulaciones y reposiciones.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s-MX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-Diseñar variable claves relacionadas con clientes, categorías, estacionalidad y zonas.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s-MX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-Entrenar y validar modelos de predicción para probabilidad de anulación y probabilidad de clientes no atendidos.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s-MX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 Calcular compras sugeridas combinando probabilidades y cantidades esperadas.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s-MX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 Desarrollar dashboard para mostrar propuestas y compararlas con la regla actual.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s-MX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-Evaluar resultados con métricas de negocio y error (Precisión, MAPE, sobrestock, substock).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4"/>
          <p:cNvSpPr/>
          <p:nvPr/>
        </p:nvSpPr>
        <p:spPr>
          <a:xfrm>
            <a:off x="11709450" y="6376975"/>
            <a:ext cx="261000" cy="219900"/>
          </a:xfrm>
          <a:prstGeom prst="flowChartConnector">
            <a:avLst/>
          </a:prstGeom>
          <a:solidFill>
            <a:srgbClr val="00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ransition spd="slow">
    <p:wipe dir="l"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scuelaIT Duoc UC - Escuela de Informática y Telecomunicaciones Duoc UC - Duoc  UC | LinkedIn" id="143" name="Google Shape;143;g2eb42e7ba96_0_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sp>
        <p:nvSpPr>
          <p:cNvPr id="144" name="Google Shape;144;g2eb42e7ba96_0_0"/>
          <p:cNvSpPr txBox="1"/>
          <p:nvPr/>
        </p:nvSpPr>
        <p:spPr>
          <a:xfrm>
            <a:off x="1" y="1078095"/>
            <a:ext cx="12192000" cy="7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b="0" i="0" lang="es-MX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Requerimientos solicitados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5" name="Google Shape;145;g2eb42e7ba96_0_0"/>
          <p:cNvSpPr txBox="1"/>
          <p:nvPr/>
        </p:nvSpPr>
        <p:spPr>
          <a:xfrm>
            <a:off x="657450" y="2089975"/>
            <a:ext cx="11149500" cy="44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s-MX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La solución tecnológica debe ser desarrollada en un entorno web accesible desde diferentes dispositivos, con un sistema de almacenamiento de datos gestionado a través de procesos ETL en SQL Server y con integración de bases de datos heterogéneas (SQL Server y MySQL).</a:t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s-MX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El sistema debe unificar la información proveniente del ERP y de la Página Web, procesarla mediante un Data Warehouse y modelos de Machine Learning en un entorno Apache Spark con Jupyter, para posteriormente disponibilizar los resultados en un servidor web con dashboards interactivos.</a:t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s-MX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 busca generar un sistema de apoyo a la toma de decisiones que permita optimizar procesos de compra, identificar patrones de consumo y predecir la demanda.</a:t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s-MX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Además, se considera la creación de reportes automáticos sobre ventas, compras, proyecciones de demanda y riesgos de stock, asegurando siempre la integridad y confidencialidad de los datos.</a:t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g2eb42e7ba96_0_0"/>
          <p:cNvSpPr txBox="1"/>
          <p:nvPr/>
        </p:nvSpPr>
        <p:spPr>
          <a:xfrm>
            <a:off x="136188" y="368928"/>
            <a:ext cx="12192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s-MX" sz="1800" u="none" cap="none" strike="noStrike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PROYECTO “Sistema de apoyo de compras con ML”</a:t>
            </a:r>
            <a:endParaRPr b="0" i="0" sz="1800" u="none" cap="none" strike="noStrike">
              <a:solidFill>
                <a:srgbClr val="75707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g2eb42e7ba96_0_0"/>
          <p:cNvSpPr/>
          <p:nvPr/>
        </p:nvSpPr>
        <p:spPr>
          <a:xfrm>
            <a:off x="11723193" y="6376975"/>
            <a:ext cx="261000" cy="219900"/>
          </a:xfrm>
          <a:prstGeom prst="flowChartConnector">
            <a:avLst/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scuelaIT Duoc UC - Escuela de Informática y Telecomunicaciones Duoc UC - Duoc  UC | LinkedIn" id="152" name="Google Shape;152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sp>
        <p:nvSpPr>
          <p:cNvPr id="153" name="Google Shape;153;p5"/>
          <p:cNvSpPr txBox="1"/>
          <p:nvPr/>
        </p:nvSpPr>
        <p:spPr>
          <a:xfrm>
            <a:off x="136188" y="368928"/>
            <a:ext cx="12192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s-MX" sz="1800" u="none" cap="none" strike="noStrike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PROYECTO “Sistema de apoyo de compras con ML”</a:t>
            </a:r>
            <a:endParaRPr b="0" i="0" sz="1800" u="none" cap="none" strike="noStrike">
              <a:solidFill>
                <a:srgbClr val="75707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5"/>
          <p:cNvSpPr txBox="1"/>
          <p:nvPr/>
        </p:nvSpPr>
        <p:spPr>
          <a:xfrm>
            <a:off x="0" y="823055"/>
            <a:ext cx="121920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0" i="0" lang="es-MX" sz="3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Alcances y limitaciones del proyecto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55" name="Google Shape;155;p5"/>
          <p:cNvCxnSpPr/>
          <p:nvPr/>
        </p:nvCxnSpPr>
        <p:spPr>
          <a:xfrm>
            <a:off x="381000" y="758027"/>
            <a:ext cx="4085700" cy="0"/>
          </a:xfrm>
          <a:prstGeom prst="straightConnector1">
            <a:avLst/>
          </a:prstGeom>
          <a:noFill/>
          <a:ln cap="flat" cmpd="sng" w="15875">
            <a:solidFill>
              <a:srgbClr val="F5F7FC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56" name="Google Shape;156;p5"/>
          <p:cNvSpPr txBox="1"/>
          <p:nvPr/>
        </p:nvSpPr>
        <p:spPr>
          <a:xfrm>
            <a:off x="6184800" y="1626750"/>
            <a:ext cx="5608500" cy="4983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s-MX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Limitaciones: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t/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s-MX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El proyecto  no incluirá un sistema logístico de inventarios como control de bodegas, transportes o distribución física de los productos.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t/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s-MX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El proyecto contempla gestión de sueldos, balances contables, gastos operacionales o administrativos.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t/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s-MX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El sistema creado será igual para toda la organización, sin personalización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t/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s-MX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El proyecto no incorpora módulos de gestión comercial.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t/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s-MX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El sistema no cubrirá variables externas ajenas a la empresa, limitándose a datos históricos internos y de preventa.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t/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t/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t/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t/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5"/>
          <p:cNvSpPr txBox="1"/>
          <p:nvPr/>
        </p:nvSpPr>
        <p:spPr>
          <a:xfrm>
            <a:off x="467450" y="1566400"/>
            <a:ext cx="5608500" cy="4983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s-MX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Alcances: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s-MX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Crear un sistema que permita entregar una proyección de compra. 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s-MX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Optimizar el proceso de toma de decisiones, considerando tecnicas analiticas y machine learning.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s-MX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Crear un datawarehouse que entregue los datos ‘limpios’ para guardarlos en una base de datos .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s-MX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Desarrollar plataforma para generar y visualizar reportes sobre las predicciones.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5"/>
          <p:cNvSpPr/>
          <p:nvPr/>
        </p:nvSpPr>
        <p:spPr>
          <a:xfrm>
            <a:off x="11723193" y="6376975"/>
            <a:ext cx="261000" cy="219900"/>
          </a:xfrm>
          <a:prstGeom prst="flowChartConnector">
            <a:avLst/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ransition spd="slow">
    <p:wipe dir="l"/>
  </p:transition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scuelaIT Duoc UC - Escuela de Informática y Telecomunicaciones Duoc UC - Duoc  UC | LinkedIn" id="163" name="Google Shape;163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sp>
        <p:nvSpPr>
          <p:cNvPr id="164" name="Google Shape;164;p6"/>
          <p:cNvSpPr txBox="1"/>
          <p:nvPr/>
        </p:nvSpPr>
        <p:spPr>
          <a:xfrm>
            <a:off x="136188" y="368928"/>
            <a:ext cx="12192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s-MX" sz="1800" u="none" cap="none" strike="noStrike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PROYECTO “Sistema de apoyo de compras con ML”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5" name="Google Shape;165;p6"/>
          <p:cNvSpPr txBox="1"/>
          <p:nvPr/>
        </p:nvSpPr>
        <p:spPr>
          <a:xfrm>
            <a:off x="0" y="1432655"/>
            <a:ext cx="12191999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0" i="0" lang="es-MX" sz="3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Metodología de trabajo para el desarrollo del proyecto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66" name="Google Shape;166;p6"/>
          <p:cNvCxnSpPr/>
          <p:nvPr/>
        </p:nvCxnSpPr>
        <p:spPr>
          <a:xfrm>
            <a:off x="381000" y="758027"/>
            <a:ext cx="4085700" cy="0"/>
          </a:xfrm>
          <a:prstGeom prst="straightConnector1">
            <a:avLst/>
          </a:prstGeom>
          <a:noFill/>
          <a:ln cap="flat" cmpd="sng" w="15875">
            <a:solidFill>
              <a:srgbClr val="F5F7FC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67" name="Google Shape;167;p6"/>
          <p:cNvSpPr txBox="1"/>
          <p:nvPr/>
        </p:nvSpPr>
        <p:spPr>
          <a:xfrm>
            <a:off x="7229938" y="6105700"/>
            <a:ext cx="4400100" cy="54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es-MX" sz="17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Fase de Codificación metodología CRISP DM para modelos de Machine Learning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t/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68" name="Google Shape;168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570550" y="2078975"/>
            <a:ext cx="3765601" cy="37655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69" name="Google Shape;169;p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81000" y="1999725"/>
            <a:ext cx="5838825" cy="3978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0" name="Google Shape;170;p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448409" y="2098525"/>
            <a:ext cx="4953514" cy="4174375"/>
          </a:xfrm>
          <a:prstGeom prst="rect">
            <a:avLst/>
          </a:prstGeom>
          <a:noFill/>
          <a:ln>
            <a:noFill/>
          </a:ln>
        </p:spPr>
      </p:pic>
      <p:sp>
        <p:nvSpPr>
          <p:cNvPr id="171" name="Google Shape;171;p6"/>
          <p:cNvSpPr txBox="1"/>
          <p:nvPr/>
        </p:nvSpPr>
        <p:spPr>
          <a:xfrm>
            <a:off x="559675" y="5021175"/>
            <a:ext cx="4400100" cy="43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es-MX" sz="17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Metodología Tradicional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t/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t/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t/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t/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6"/>
          <p:cNvSpPr/>
          <p:nvPr/>
        </p:nvSpPr>
        <p:spPr>
          <a:xfrm>
            <a:off x="11723193" y="6376975"/>
            <a:ext cx="261000" cy="219900"/>
          </a:xfrm>
          <a:prstGeom prst="flowChartConnector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ransition spd="slow">
    <p:wipe dir="l"/>
  </p:transition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scuelaIT Duoc UC - Escuela de Informática y Telecomunicaciones Duoc UC - Duoc  UC | LinkedIn" id="177" name="Google Shape;177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sp>
        <p:nvSpPr>
          <p:cNvPr id="178" name="Google Shape;178;p8"/>
          <p:cNvSpPr txBox="1"/>
          <p:nvPr/>
        </p:nvSpPr>
        <p:spPr>
          <a:xfrm>
            <a:off x="136188" y="368928"/>
            <a:ext cx="12192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s-MX" sz="1800" u="none" cap="none" strike="noStrike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PROYECTO “Sistema de apoyo de compras con ML”</a:t>
            </a:r>
            <a:endParaRPr b="0" i="0" sz="1800" u="none" cap="none" strike="noStrike">
              <a:solidFill>
                <a:srgbClr val="75707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8"/>
          <p:cNvSpPr txBox="1"/>
          <p:nvPr/>
        </p:nvSpPr>
        <p:spPr>
          <a:xfrm>
            <a:off x="0" y="777830"/>
            <a:ext cx="121920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0" i="0" lang="es-MX" sz="3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Modelo de datos Producción Mysql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80" name="Google Shape;180;p8"/>
          <p:cNvCxnSpPr/>
          <p:nvPr/>
        </p:nvCxnSpPr>
        <p:spPr>
          <a:xfrm>
            <a:off x="304800" y="758027"/>
            <a:ext cx="4085700" cy="0"/>
          </a:xfrm>
          <a:prstGeom prst="straightConnector1">
            <a:avLst/>
          </a:prstGeom>
          <a:noFill/>
          <a:ln cap="flat" cmpd="sng" w="15875">
            <a:solidFill>
              <a:srgbClr val="F5F7FC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81" name="Google Shape;181;p8"/>
          <p:cNvSpPr/>
          <p:nvPr/>
        </p:nvSpPr>
        <p:spPr>
          <a:xfrm>
            <a:off x="11709450" y="6376975"/>
            <a:ext cx="261000" cy="219900"/>
          </a:xfrm>
          <a:prstGeom prst="flowChartConnector">
            <a:avLst/>
          </a:prstGeom>
          <a:solidFill>
            <a:srgbClr val="00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82" name="Google Shape;182;p8" title="nope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104850" y="1524930"/>
            <a:ext cx="5572805" cy="512887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wipe dir="l"/>
  </p:transition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scuelaIT Duoc UC - Escuela de Informática y Telecomunicaciones Duoc UC - Duoc  UC | LinkedIn" id="187" name="Google Shape;187;g37d4c9ad68e_1_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sp>
        <p:nvSpPr>
          <p:cNvPr id="188" name="Google Shape;188;g37d4c9ad68e_1_1"/>
          <p:cNvSpPr txBox="1"/>
          <p:nvPr/>
        </p:nvSpPr>
        <p:spPr>
          <a:xfrm>
            <a:off x="136188" y="368928"/>
            <a:ext cx="12192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s-MX" sz="1800" u="none" cap="none" strike="noStrike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PROYECTO “Sistema de apoyo de compras con ML”</a:t>
            </a:r>
            <a:endParaRPr b="0" i="0" sz="1800" u="none" cap="none" strike="noStrike">
              <a:solidFill>
                <a:srgbClr val="75707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g37d4c9ad68e_1_1"/>
          <p:cNvSpPr txBox="1"/>
          <p:nvPr/>
        </p:nvSpPr>
        <p:spPr>
          <a:xfrm>
            <a:off x="0" y="974543"/>
            <a:ext cx="121920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0" i="0" lang="es-MX" sz="3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Modelo de datos Producción SQL SERVER 2008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90" name="Google Shape;190;g37d4c9ad68e_1_1"/>
          <p:cNvCxnSpPr/>
          <p:nvPr/>
        </p:nvCxnSpPr>
        <p:spPr>
          <a:xfrm>
            <a:off x="304800" y="758027"/>
            <a:ext cx="4085700" cy="0"/>
          </a:xfrm>
          <a:prstGeom prst="straightConnector1">
            <a:avLst/>
          </a:prstGeom>
          <a:noFill/>
          <a:ln cap="flat" cmpd="sng" w="15875">
            <a:solidFill>
              <a:srgbClr val="F5F7FC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91" name="Google Shape;191;g37d4c9ad68e_1_1"/>
          <p:cNvSpPr/>
          <p:nvPr/>
        </p:nvSpPr>
        <p:spPr>
          <a:xfrm>
            <a:off x="11709450" y="6376975"/>
            <a:ext cx="261000" cy="219900"/>
          </a:xfrm>
          <a:prstGeom prst="flowChartConnector">
            <a:avLst/>
          </a:prstGeom>
          <a:solidFill>
            <a:srgbClr val="00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92" name="Google Shape;192;g37d4c9ad68e_1_1" title="modelo datos produccion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048400" y="1040968"/>
            <a:ext cx="6821750" cy="4932157"/>
          </a:xfrm>
          <a:prstGeom prst="rect">
            <a:avLst/>
          </a:prstGeom>
          <a:noFill/>
          <a:ln>
            <a:noFill/>
          </a:ln>
        </p:spPr>
      </p:pic>
      <p:sp>
        <p:nvSpPr>
          <p:cNvPr id="193" name="Google Shape;193;g37d4c9ad68e_1_1"/>
          <p:cNvSpPr txBox="1"/>
          <p:nvPr/>
        </p:nvSpPr>
        <p:spPr>
          <a:xfrm>
            <a:off x="5894575" y="6256075"/>
            <a:ext cx="50658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900" u="sng">
                <a:solidFill>
                  <a:schemeClr val="hlink"/>
                </a:solidFill>
                <a:hlinkClick r:id="rId5"/>
              </a:rPr>
              <a:t>https://drive.google.com/file/d/1KsIXFlwP9dCYcAtECYcLtrWA3fDYZutI/view?usp=sharing</a:t>
            </a:r>
            <a:r>
              <a:rPr lang="es-MX" sz="900"/>
              <a:t>  </a:t>
            </a:r>
            <a:r>
              <a:rPr lang="es-MX" sz="900"/>
              <a:t> </a:t>
            </a:r>
            <a:endParaRPr sz="900"/>
          </a:p>
        </p:txBody>
      </p:sp>
      <p:sp>
        <p:nvSpPr>
          <p:cNvPr id="194" name="Google Shape;194;g37d4c9ad68e_1_1"/>
          <p:cNvSpPr txBox="1"/>
          <p:nvPr/>
        </p:nvSpPr>
        <p:spPr>
          <a:xfrm>
            <a:off x="882500" y="2320550"/>
            <a:ext cx="20409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SOLO TABLAS COMPROMETIDAS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g37d4c9ad68e_1_1"/>
          <p:cNvSpPr txBox="1"/>
          <p:nvPr/>
        </p:nvSpPr>
        <p:spPr>
          <a:xfrm>
            <a:off x="3853675" y="6240625"/>
            <a:ext cx="20409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ESQUEMA COMPLETO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scuelaIT Duoc UC - Escuela de Informática y Telecomunicaciones Duoc UC - Duoc  UC | LinkedIn" id="200" name="Google Shape;200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sp>
        <p:nvSpPr>
          <p:cNvPr id="201" name="Google Shape;201;p7"/>
          <p:cNvSpPr txBox="1"/>
          <p:nvPr/>
        </p:nvSpPr>
        <p:spPr>
          <a:xfrm>
            <a:off x="136188" y="445128"/>
            <a:ext cx="12192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s-MX" sz="1800" u="none" cap="none" strike="noStrike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PROYECTO “Sistema de apoyo de compras con ML”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2" name="Google Shape;202;p7"/>
          <p:cNvSpPr txBox="1"/>
          <p:nvPr/>
        </p:nvSpPr>
        <p:spPr>
          <a:xfrm>
            <a:off x="1" y="1155656"/>
            <a:ext cx="12191999" cy="89255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0" i="0" lang="es-MX" sz="3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Cronograma para el desarrollo del proyecto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s-MX" sz="1600" u="none" cap="none" strike="noStrike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* Utilizar cronograma de inicio, indicando el cumplimiento al término del proyecto (actividad –responsable-tiempo) según metodología. </a:t>
            </a:r>
            <a:endParaRPr b="0" i="0" sz="1000" u="none" cap="none" strike="noStrike">
              <a:solidFill>
                <a:srgbClr val="75707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03" name="Google Shape;203;p7"/>
          <p:cNvCxnSpPr/>
          <p:nvPr/>
        </p:nvCxnSpPr>
        <p:spPr>
          <a:xfrm>
            <a:off x="0" y="758027"/>
            <a:ext cx="4085617" cy="0"/>
          </a:xfrm>
          <a:prstGeom prst="straightConnector1">
            <a:avLst/>
          </a:prstGeom>
          <a:noFill/>
          <a:ln cap="flat" cmpd="sng" w="15875">
            <a:solidFill>
              <a:srgbClr val="F5F7FC"/>
            </a:solidFill>
            <a:prstDash val="solid"/>
            <a:miter lim="800000"/>
            <a:headEnd len="sm" w="sm" type="none"/>
            <a:tailEnd len="sm" w="sm" type="none"/>
          </a:ln>
        </p:spPr>
      </p:cxnSp>
      <p:pic>
        <p:nvPicPr>
          <p:cNvPr id="204" name="Google Shape;204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08975" y="2210958"/>
            <a:ext cx="11887199" cy="2205872"/>
          </a:xfrm>
          <a:prstGeom prst="rect">
            <a:avLst/>
          </a:prstGeom>
          <a:noFill/>
          <a:ln>
            <a:noFill/>
          </a:ln>
        </p:spPr>
      </p:pic>
      <p:sp>
        <p:nvSpPr>
          <p:cNvPr id="205" name="Google Shape;205;p7"/>
          <p:cNvSpPr/>
          <p:nvPr/>
        </p:nvSpPr>
        <p:spPr>
          <a:xfrm>
            <a:off x="11723193" y="6376975"/>
            <a:ext cx="261000" cy="219900"/>
          </a:xfrm>
          <a:prstGeom prst="flowChartConnector">
            <a:avLst/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ransition spd="slow">
    <p:wipe dir="l"/>
  </p:transition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scuelaIT Duoc UC - Escuela de Informática y Telecomunicaciones Duoc UC - Duoc  UC | LinkedIn" id="210" name="Google Shape;210;g27356b57bef_0_4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sp>
        <p:nvSpPr>
          <p:cNvPr id="211" name="Google Shape;211;g27356b57bef_0_45"/>
          <p:cNvSpPr txBox="1"/>
          <p:nvPr/>
        </p:nvSpPr>
        <p:spPr>
          <a:xfrm>
            <a:off x="136188" y="368928"/>
            <a:ext cx="12192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s-MX" sz="1800" u="none" cap="none" strike="noStrike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PROYECTO “Sistema de apoyo de compras con ML”</a:t>
            </a:r>
            <a:endParaRPr b="0" i="0" sz="1800" u="none" cap="none" strike="noStrike">
              <a:solidFill>
                <a:srgbClr val="75707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g27356b57bef_0_45"/>
          <p:cNvSpPr txBox="1"/>
          <p:nvPr/>
        </p:nvSpPr>
        <p:spPr>
          <a:xfrm>
            <a:off x="0" y="594455"/>
            <a:ext cx="121920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0" i="0" lang="es-MX" sz="3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Arquitectura de la solución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13" name="Google Shape;213;g27356b57bef_0_45"/>
          <p:cNvCxnSpPr/>
          <p:nvPr/>
        </p:nvCxnSpPr>
        <p:spPr>
          <a:xfrm>
            <a:off x="0" y="758027"/>
            <a:ext cx="4085700" cy="0"/>
          </a:xfrm>
          <a:prstGeom prst="straightConnector1">
            <a:avLst/>
          </a:prstGeom>
          <a:noFill/>
          <a:ln cap="flat" cmpd="sng" w="15875">
            <a:solidFill>
              <a:srgbClr val="F5F7FC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214" name="Google Shape;214;g27356b57bef_0_45"/>
          <p:cNvSpPr/>
          <p:nvPr/>
        </p:nvSpPr>
        <p:spPr>
          <a:xfrm>
            <a:off x="11723193" y="6376975"/>
            <a:ext cx="261000" cy="219900"/>
          </a:xfrm>
          <a:prstGeom prst="flowChartConnector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15" name="Google Shape;215;g27356b57bef_0_45" title="Diagrama sin título.drawio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08300" y="1336925"/>
            <a:ext cx="11675901" cy="495770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scuelaIT Duoc UC - Escuela de Informática y Telecomunicaciones Duoc UC - Duoc  UC | LinkedIn" id="220" name="Google Shape;220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sp>
        <p:nvSpPr>
          <p:cNvPr id="221" name="Google Shape;221;p9"/>
          <p:cNvSpPr txBox="1"/>
          <p:nvPr/>
        </p:nvSpPr>
        <p:spPr>
          <a:xfrm>
            <a:off x="136188" y="368928"/>
            <a:ext cx="12192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s-MX" sz="1800" u="none" cap="none" strike="noStrike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PROYECTO “Sistema de apoyo de compras con ML”</a:t>
            </a:r>
            <a:endParaRPr b="0" i="0" sz="1800" u="none" cap="none" strike="noStrike">
              <a:solidFill>
                <a:srgbClr val="75707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9"/>
          <p:cNvSpPr txBox="1"/>
          <p:nvPr/>
        </p:nvSpPr>
        <p:spPr>
          <a:xfrm>
            <a:off x="0" y="1008330"/>
            <a:ext cx="121920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0" i="0" lang="es-MX" sz="3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Tecnologías utilizadas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23" name="Google Shape;223;p9"/>
          <p:cNvCxnSpPr/>
          <p:nvPr/>
        </p:nvCxnSpPr>
        <p:spPr>
          <a:xfrm>
            <a:off x="381000" y="758027"/>
            <a:ext cx="4085700" cy="0"/>
          </a:xfrm>
          <a:prstGeom prst="straightConnector1">
            <a:avLst/>
          </a:prstGeom>
          <a:noFill/>
          <a:ln cap="flat" cmpd="sng" w="15875">
            <a:solidFill>
              <a:srgbClr val="F5F7FC"/>
            </a:solidFill>
            <a:prstDash val="solid"/>
            <a:miter lim="800000"/>
            <a:headEnd len="sm" w="sm" type="none"/>
            <a:tailEnd len="sm" w="sm" type="none"/>
          </a:ln>
        </p:spPr>
      </p:cxnSp>
      <p:pic>
        <p:nvPicPr>
          <p:cNvPr id="224" name="Google Shape;224;p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31421" y="1905120"/>
            <a:ext cx="2044233" cy="1588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25" name="Google Shape;225;p9"/>
          <p:cNvPicPr preferRelativeResize="0"/>
          <p:nvPr/>
        </p:nvPicPr>
        <p:blipFill rotWithShape="1">
          <a:blip r:embed="rId5">
            <a:alphaModFix/>
          </a:blip>
          <a:srcRect b="0" l="55336" r="10662" t="0"/>
          <a:stretch/>
        </p:blipFill>
        <p:spPr>
          <a:xfrm>
            <a:off x="3426250" y="3330700"/>
            <a:ext cx="1276525" cy="1490164"/>
          </a:xfrm>
          <a:prstGeom prst="rect">
            <a:avLst/>
          </a:prstGeom>
          <a:noFill/>
          <a:ln>
            <a:noFill/>
          </a:ln>
        </p:spPr>
      </p:pic>
      <p:pic>
        <p:nvPicPr>
          <p:cNvPr id="226" name="Google Shape;226;p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844800" y="2381850"/>
            <a:ext cx="2068762" cy="1379174"/>
          </a:xfrm>
          <a:prstGeom prst="rect">
            <a:avLst/>
          </a:prstGeom>
          <a:noFill/>
          <a:ln>
            <a:noFill/>
          </a:ln>
        </p:spPr>
      </p:pic>
      <p:pic>
        <p:nvPicPr>
          <p:cNvPr id="227" name="Google Shape;227;p9" title="descarga.jpeg"/>
          <p:cNvPicPr preferRelativeResize="0"/>
          <p:nvPr/>
        </p:nvPicPr>
        <p:blipFill rotWithShape="1">
          <a:blip r:embed="rId7">
            <a:alphaModFix/>
          </a:blip>
          <a:srcRect b="7017" l="22511" r="22460" t="5691"/>
          <a:stretch/>
        </p:blipFill>
        <p:spPr>
          <a:xfrm>
            <a:off x="7617825" y="2381838"/>
            <a:ext cx="1335375" cy="13791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28" name="Google Shape;228;p9" title="mysql-logo.png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613350" y="3493998"/>
            <a:ext cx="2262300" cy="1696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29" name="Google Shape;229;p9" title="vue.png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7483875" y="4366101"/>
            <a:ext cx="1460275" cy="1460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30" name="Google Shape;230;p9" title="Apache_Spark_logo.svg.png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9638150" y="4121000"/>
            <a:ext cx="2044224" cy="1062996"/>
          </a:xfrm>
          <a:prstGeom prst="rect">
            <a:avLst/>
          </a:prstGeom>
          <a:noFill/>
          <a:ln>
            <a:noFill/>
          </a:ln>
        </p:spPr>
      </p:pic>
      <p:pic>
        <p:nvPicPr>
          <p:cNvPr id="231" name="Google Shape;231;p9" title="python.jpeg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5390850" y="2148171"/>
            <a:ext cx="1335375" cy="1466416"/>
          </a:xfrm>
          <a:prstGeom prst="rect">
            <a:avLst/>
          </a:prstGeom>
          <a:noFill/>
          <a:ln>
            <a:noFill/>
          </a:ln>
        </p:spPr>
      </p:pic>
      <p:pic>
        <p:nvPicPr>
          <p:cNvPr id="232" name="Google Shape;232;p9" title="VS.jpeg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2075950" y="4948147"/>
            <a:ext cx="1610250" cy="1588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33" name="Google Shape;233;p9" title="Jupyter_logo.svg.png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5169338" y="4309645"/>
            <a:ext cx="1460274" cy="1693481"/>
          </a:xfrm>
          <a:prstGeom prst="rect">
            <a:avLst/>
          </a:prstGeom>
          <a:noFill/>
          <a:ln>
            <a:noFill/>
          </a:ln>
        </p:spPr>
      </p:pic>
      <p:sp>
        <p:nvSpPr>
          <p:cNvPr id="234" name="Google Shape;234;p9"/>
          <p:cNvSpPr/>
          <p:nvPr/>
        </p:nvSpPr>
        <p:spPr>
          <a:xfrm>
            <a:off x="11723193" y="6376975"/>
            <a:ext cx="261000" cy="219900"/>
          </a:xfrm>
          <a:prstGeom prst="flowChartConnector">
            <a:avLst/>
          </a:prstGeom>
          <a:solidFill>
            <a:srgbClr val="00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ransition spd="slow">
    <p:wipe dir="l"/>
  </p:transition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scuelaIT Duoc UC - Escuela de Informática y Telecomunicaciones Duoc UC - Duoc  UC | LinkedIn" id="239" name="Google Shape;239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sp>
        <p:nvSpPr>
          <p:cNvPr id="240" name="Google Shape;240;p10"/>
          <p:cNvSpPr txBox="1"/>
          <p:nvPr/>
        </p:nvSpPr>
        <p:spPr>
          <a:xfrm>
            <a:off x="1" y="2707792"/>
            <a:ext cx="12192000" cy="1139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b="0" i="0" lang="es-MX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DEMOSTRACIÓN DEL RESULTADO DEL PROYECTO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75707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" name="Google Shape;241;p10"/>
          <p:cNvSpPr txBox="1"/>
          <p:nvPr/>
        </p:nvSpPr>
        <p:spPr>
          <a:xfrm>
            <a:off x="136188" y="368928"/>
            <a:ext cx="12192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s-MX" sz="1800" u="none" cap="none" strike="noStrike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PROYECTO “Sistema de apoyo de compras con ML”</a:t>
            </a:r>
            <a:endParaRPr b="0" i="0" sz="1800" u="none" cap="none" strike="noStrike">
              <a:solidFill>
                <a:srgbClr val="75707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" name="Google Shape;242;p10"/>
          <p:cNvSpPr/>
          <p:nvPr/>
        </p:nvSpPr>
        <p:spPr>
          <a:xfrm>
            <a:off x="11723193" y="6376975"/>
            <a:ext cx="261000" cy="219900"/>
          </a:xfrm>
          <a:prstGeom prst="flowChartConnector">
            <a:avLst/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ransition spd="slow">
    <p:wipe dir="l"/>
  </p:transition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scuelaIT Duoc UC - Escuela de Informática y Telecomunicaciones Duoc UC - Duoc  UC | LinkedIn" id="247" name="Google Shape;247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sp>
        <p:nvSpPr>
          <p:cNvPr id="248" name="Google Shape;248;p11"/>
          <p:cNvSpPr txBox="1"/>
          <p:nvPr/>
        </p:nvSpPr>
        <p:spPr>
          <a:xfrm>
            <a:off x="1" y="1078095"/>
            <a:ext cx="12192000" cy="7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b="0" i="0" lang="es-MX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Resultados obtenidos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9" name="Google Shape;249;p11"/>
          <p:cNvSpPr txBox="1"/>
          <p:nvPr/>
        </p:nvSpPr>
        <p:spPr>
          <a:xfrm>
            <a:off x="627400" y="2248425"/>
            <a:ext cx="11149500" cy="456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s-MX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La solución resultante es una plataforma web responsiva que puede ser utilizada en distintos dispositivos, entregando acceso ágil y claro a información procesada y consolidada.</a:t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s-MX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Mejora en la experiencia de los gerentes y analistas</a:t>
            </a:r>
            <a:r>
              <a:rPr b="0" i="0" lang="es-MX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al contar con reportes y dashboards interactivos que muestran la demanda proyectada, el estado de las compras y el nivel de stock en tiempo real.</a:t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s-MX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Optimización en la gestión de recursos financieros y logísticos,</a:t>
            </a:r>
            <a:r>
              <a:rPr b="0" i="0" lang="es-MX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al reducir la sobrecompra y la falta de stock mediante modelos predictivos basados en Machine Learning.</a:t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s-MX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Captura y unificación de información crítica del ERP y la página Web</a:t>
            </a:r>
            <a:r>
              <a:rPr b="0" i="0" lang="es-MX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en un Data Warehouse, permitiendo análisis más precisos y decisiones estratégicas fundamentadas.</a:t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s-MX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Mejora en la competitividad de la empresa</a:t>
            </a:r>
            <a:r>
              <a:rPr b="0" i="0" lang="es-MX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al contar con herramientas modernas, seguras y eficientes que reducen costos y aumentan la eficiencia en la cadena de abastecimiento.</a:t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" name="Google Shape;250;p11"/>
          <p:cNvSpPr txBox="1"/>
          <p:nvPr/>
        </p:nvSpPr>
        <p:spPr>
          <a:xfrm>
            <a:off x="136188" y="368928"/>
            <a:ext cx="12192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s-MX" sz="1800" u="none" cap="none" strike="noStrike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PROYECTO “Sistema de apoyo de compras con ML”</a:t>
            </a:r>
            <a:endParaRPr b="0" i="0" sz="1800" u="none" cap="none" strike="noStrike">
              <a:solidFill>
                <a:srgbClr val="75707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" name="Google Shape;251;p11"/>
          <p:cNvSpPr/>
          <p:nvPr/>
        </p:nvSpPr>
        <p:spPr>
          <a:xfrm>
            <a:off x="11723193" y="6376975"/>
            <a:ext cx="261000" cy="219900"/>
          </a:xfrm>
          <a:prstGeom prst="flowChartConnector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ransition spd="slow">
    <p:wipe dir="l"/>
  </p:transition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scuelaIT Duoc UC - Escuela de Informática y Telecomunicaciones Duoc UC - Duoc  UC | LinkedIn" id="256" name="Google Shape;256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sp>
        <p:nvSpPr>
          <p:cNvPr id="257" name="Google Shape;257;p13"/>
          <p:cNvSpPr txBox="1"/>
          <p:nvPr/>
        </p:nvSpPr>
        <p:spPr>
          <a:xfrm>
            <a:off x="0" y="3044269"/>
            <a:ext cx="12192000" cy="8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100"/>
              <a:buFont typeface="Arial"/>
              <a:buNone/>
            </a:pPr>
            <a:r>
              <a:rPr b="0" i="0" lang="es-MX" sz="51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PREGUNTAS DE LA COMISIÓN</a:t>
            </a:r>
            <a:endParaRPr b="0" i="0" sz="2100" u="none" cap="none" strike="noStrike">
              <a:solidFill>
                <a:srgbClr val="88888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8" name="Google Shape;258;p13"/>
          <p:cNvSpPr txBox="1"/>
          <p:nvPr/>
        </p:nvSpPr>
        <p:spPr>
          <a:xfrm>
            <a:off x="136188" y="368928"/>
            <a:ext cx="12192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s-MX" sz="1800" u="none" cap="none" strike="noStrike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PROYECTO “Sistema de apoyo de compras con ML”</a:t>
            </a:r>
            <a:endParaRPr b="0" i="0" sz="1800" u="none" cap="none" strike="noStrike">
              <a:solidFill>
                <a:srgbClr val="75707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ransition spd="slow">
    <p:wipe dir="l"/>
  </p:transition>
</p:sld>
</file>

<file path=ppt/theme/theme1.xml><?xml version="1.0" encoding="utf-8"?>
<a:theme xmlns:a="http://schemas.openxmlformats.org/drawingml/2006/main" xmlns:r="http://schemas.openxmlformats.org/officeDocument/2006/relationships" name="Tema de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2023-10-28T21:12:11Z</dcterms:created>
  <dc:creator>Gerardo Galan Cruz</dc:creator>
</cp:coreProperties>
</file>